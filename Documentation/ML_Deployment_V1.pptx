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67" r:id="rId6"/>
    <p:sldId id="260" r:id="rId7"/>
    <p:sldId id="268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 snapToObjects="1">
      <p:cViewPr varScale="1">
        <p:scale>
          <a:sx n="127" d="100"/>
          <a:sy n="127" d="100"/>
        </p:scale>
        <p:origin x="13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56702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Hybrid Risk-Aware Health Insurance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154974"/>
            <a:ext cx="6400800" cy="1752600"/>
          </a:xfrm>
        </p:spPr>
        <p:txBody>
          <a:bodyPr/>
          <a:lstStyle/>
          <a:p>
            <a:r>
              <a:rPr dirty="0"/>
              <a:t>ML System Deployment – Version 1</a:t>
            </a:r>
          </a:p>
          <a:p>
            <a:r>
              <a:rPr dirty="0"/>
              <a:t>Hybrid Retrieval + Structured Risk Modeling + Explainable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Health insurance policy documents are complex, lengthy, and written in legal language, making it difficult for individuals with chronic conditions to identify suitable plans under budget constraints.</a:t>
            </a:r>
          </a:p>
          <a:p>
            <a:r>
              <a:rPr lang="en-GB" dirty="0"/>
              <a:t>Traditional comparison methods:</a:t>
            </a:r>
          </a:p>
          <a:p>
            <a:pPr lvl="1"/>
            <a:r>
              <a:rPr lang="en-GB" dirty="0"/>
              <a:t>Rely on manual PDF review</a:t>
            </a:r>
          </a:p>
          <a:p>
            <a:pPr lvl="1"/>
            <a:r>
              <a:rPr lang="en-GB" dirty="0"/>
              <a:t>Ignore condition-specific coverage logic</a:t>
            </a:r>
          </a:p>
          <a:p>
            <a:pPr lvl="1"/>
            <a:r>
              <a:rPr lang="en-GB" dirty="0"/>
              <a:t>Fail to handle exclusions and waiting periods reliably</a:t>
            </a:r>
          </a:p>
          <a:p>
            <a:pPr lvl="1"/>
            <a:r>
              <a:rPr lang="en-GB" dirty="0"/>
              <a:t>Lack interpretability and systematic evaluation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49941-884F-9875-C33C-7938852B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 dirty="0"/>
              <a:t>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83900-0CDE-560B-04B5-1055ED620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Design a hybrid risk-aware health insurance recommendation system that:</a:t>
            </a:r>
          </a:p>
          <a:p>
            <a:pPr lvl="1"/>
            <a:r>
              <a:rPr lang="en-GB" dirty="0"/>
              <a:t>Uses curated policy PDFs (Tables of Cover + Terms &amp; Conditions)</a:t>
            </a:r>
          </a:p>
          <a:p>
            <a:pPr lvl="1"/>
            <a:r>
              <a:rPr lang="en-GB" dirty="0"/>
              <a:t>Applies deterministic medical risk scoring</a:t>
            </a:r>
          </a:p>
          <a:p>
            <a:pPr lvl="1"/>
            <a:r>
              <a:rPr lang="en-GB" dirty="0"/>
              <a:t>Combines BM25 and dense retrieval (FAISS)</a:t>
            </a:r>
          </a:p>
          <a:p>
            <a:pPr lvl="1"/>
            <a:r>
              <a:rPr lang="en-GB" dirty="0"/>
              <a:t>Produces globally ranked plans</a:t>
            </a:r>
          </a:p>
          <a:p>
            <a:pPr lvl="1"/>
            <a:r>
              <a:rPr lang="en-GB" dirty="0"/>
              <a:t>Generates clause-grounded explanations</a:t>
            </a:r>
          </a:p>
          <a:p>
            <a:pPr lvl="1"/>
            <a:r>
              <a:rPr lang="en-GB" dirty="0"/>
              <a:t>Supports evaluation via precision, recall, and latency metrics</a:t>
            </a:r>
          </a:p>
        </p:txBody>
      </p:sp>
    </p:spTree>
    <p:extLst>
      <p:ext uri="{BB962C8B-B14F-4D97-AF65-F5344CB8AC3E}">
        <p14:creationId xmlns:p14="http://schemas.microsoft.com/office/powerpoint/2010/main" val="354386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Is Challenging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1070"/>
            <a:ext cx="8229600" cy="4525963"/>
          </a:xfrm>
        </p:spPr>
        <p:txBody>
          <a:bodyPr/>
          <a:lstStyle/>
          <a:p>
            <a:pPr lvl="1">
              <a:buFont typeface="Wingdings" pitchFamily="2" charset="2"/>
              <a:buChar char="§"/>
            </a:pPr>
            <a:r>
              <a:rPr dirty="0"/>
              <a:t>Unstructured PDF policy documents (legal language)</a:t>
            </a: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dirty="0"/>
              <a:t>Numeric precision requirements (€ limits, day caps)</a:t>
            </a: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dirty="0"/>
              <a:t>Pre-existing condition exclusions</a:t>
            </a: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Need to avoid</a:t>
            </a:r>
            <a:r>
              <a:rPr dirty="0"/>
              <a:t> hallucination in healthcare setting</a:t>
            </a: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dirty="0"/>
              <a:t>Must track latency &amp; system metrics (TTFT, TPOT)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A6176-57AF-160D-A097-6C9F9465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 dirty="0"/>
              <a:t>Workflow</a:t>
            </a:r>
          </a:p>
        </p:txBody>
      </p:sp>
      <p:pic>
        <p:nvPicPr>
          <p:cNvPr id="5" name="Content Placeholder 4" descr="A diagram of a flowchart&#10;&#10;AI-generated content may be incorrect.">
            <a:extLst>
              <a:ext uri="{FF2B5EF4-FFF2-40B4-BE49-F238E27FC236}">
                <a16:creationId xmlns:a16="http://schemas.microsoft.com/office/drawing/2014/main" id="{0D2DAF23-7090-9A95-30AB-CEEA9FFFD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3025"/>
          <a:stretch>
            <a:fillRect/>
          </a:stretch>
        </p:blipFill>
        <p:spPr>
          <a:xfrm>
            <a:off x="2807813" y="1580105"/>
            <a:ext cx="3528373" cy="4603188"/>
          </a:xfrm>
        </p:spPr>
      </p:pic>
    </p:spTree>
    <p:extLst>
      <p:ext uri="{BB962C8B-B14F-4D97-AF65-F5344CB8AC3E}">
        <p14:creationId xmlns:p14="http://schemas.microsoft.com/office/powerpoint/2010/main" val="68004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</a:t>
            </a:r>
          </a:p>
        </p:txBody>
      </p:sp>
      <p:pic>
        <p:nvPicPr>
          <p:cNvPr id="6" name="Content Placeholder 5" descr="A diagram of a process&#10;&#10;AI-generated content may be incorrect.">
            <a:extLst>
              <a:ext uri="{FF2B5EF4-FFF2-40B4-BE49-F238E27FC236}">
                <a16:creationId xmlns:a16="http://schemas.microsoft.com/office/drawing/2014/main" id="{53CDD16B-DCF0-80DF-1FB2-567286575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3079" y="1417638"/>
            <a:ext cx="3417841" cy="512676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7E443-E75F-ACE7-CF6C-15E996046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 dirty="0"/>
              <a:t>Data Strategy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486E5446-BF1E-0634-A4B2-FFA71277F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2934" y="1366164"/>
            <a:ext cx="3478131" cy="5217198"/>
          </a:xfrm>
        </p:spPr>
      </p:pic>
    </p:spTree>
    <p:extLst>
      <p:ext uri="{BB962C8B-B14F-4D97-AF65-F5344CB8AC3E}">
        <p14:creationId xmlns:p14="http://schemas.microsoft.com/office/powerpoint/2010/main" val="1757344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279" y="1678075"/>
            <a:ext cx="8787284" cy="4819877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sz="3000" dirty="0"/>
              <a:t>Phase 1: Ingestion &amp; Normalization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3000" dirty="0"/>
              <a:t>Phase 2: Dense Embedding Index (FAISS)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3000" dirty="0"/>
              <a:t>Phase 3: BM25 Retrieval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3000" dirty="0"/>
              <a:t>Phase 4: Hybrid Fusion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3000" dirty="0"/>
              <a:t>Phase 5: Risk-Aware Medical Scoring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3000" dirty="0"/>
              <a:t>Phase 6: Decision-Aware LLM Explanation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221</Words>
  <Application>Microsoft Macintosh PowerPoint</Application>
  <PresentationFormat>On-screen Show (4:3)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Hybrid Risk-Aware Health Insurance Recommendation System</vt:lpstr>
      <vt:lpstr>Problem Statement</vt:lpstr>
      <vt:lpstr>Use Case</vt:lpstr>
      <vt:lpstr>Why This Is Challenging</vt:lpstr>
      <vt:lpstr>Workflow</vt:lpstr>
      <vt:lpstr>Architecture</vt:lpstr>
      <vt:lpstr>Data Strategy</vt:lpstr>
      <vt:lpstr>MVP</vt:lpstr>
      <vt:lpstr>Results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Κωνσταντίνος Σκλαβενίτης</cp:lastModifiedBy>
  <cp:revision>2</cp:revision>
  <dcterms:created xsi:type="dcterms:W3CDTF">2013-01-27T09:14:16Z</dcterms:created>
  <dcterms:modified xsi:type="dcterms:W3CDTF">2026-02-15T12:29:08Z</dcterms:modified>
  <cp:category/>
</cp:coreProperties>
</file>